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88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6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5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3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4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0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6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46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65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66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6B250-4E74-418D-B7BB-B3E81362A039}" type="datetimeFigureOut">
              <a:rPr lang="en-US" smtClean="0"/>
              <a:t>2/24/2022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1D87A-7E0C-4688-B491-781E159FE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6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92598" y="4885357"/>
            <a:ext cx="6141747" cy="16941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/>
              <a:t>Topic 1 (Introduction to </a:t>
            </a:r>
            <a:r>
              <a:rPr lang="en-US" sz="1600" b="1" dirty="0" smtClean="0"/>
              <a:t>Philosophy)</a:t>
            </a:r>
            <a:r>
              <a:rPr lang="en-US" sz="1600" b="1" dirty="0"/>
              <a:t> </a:t>
            </a:r>
            <a:r>
              <a:rPr lang="en-US" sz="1600" b="1" dirty="0" smtClean="0"/>
              <a:t>in Lessons </a:t>
            </a:r>
            <a:r>
              <a:rPr lang="en-US" sz="1600" b="1" dirty="0"/>
              <a:t>2 &amp;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90561" y="5326296"/>
            <a:ext cx="1359514" cy="1092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Philosophy of </a:t>
            </a:r>
            <a:br>
              <a:rPr lang="en-US" sz="1600" b="1" dirty="0" smtClean="0"/>
            </a:br>
            <a:r>
              <a:rPr lang="en-US" sz="1600" b="1" dirty="0" smtClean="0"/>
              <a:t>Well-Being</a:t>
            </a:r>
            <a:endParaRPr lang="en-US" sz="16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6368472" y="5326296"/>
            <a:ext cx="1622769" cy="1092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National Education Philosophy (NEP)</a:t>
            </a:r>
            <a:endParaRPr lang="en-US" sz="16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8665180" y="5325416"/>
            <a:ext cx="1151442" cy="10931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 smtClean="0"/>
              <a:t>Rukun</a:t>
            </a:r>
            <a:r>
              <a:rPr lang="en-US" sz="1600" b="1" dirty="0" smtClean="0"/>
              <a:t> Negara</a:t>
            </a:r>
            <a:endParaRPr lang="en-US" sz="1600" b="1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005959" y="0"/>
            <a:ext cx="21780" cy="6858000"/>
          </a:xfrm>
          <a:prstGeom prst="line">
            <a:avLst/>
          </a:prstGeom>
          <a:ln w="412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47145" y="4885357"/>
            <a:ext cx="2725785" cy="16869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Explaining the </a:t>
            </a:r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Basis </a:t>
            </a:r>
            <a:r>
              <a:rPr lang="en-US" b="1" dirty="0" smtClean="0">
                <a:solidFill>
                  <a:srgbClr val="C00000"/>
                </a:solidFill>
              </a:rPr>
              <a:t>and Framework in Developing Philosophy within the Society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7145" y="2598138"/>
            <a:ext cx="2725785" cy="16869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Describing the 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Main Domains </a:t>
            </a:r>
            <a:r>
              <a:rPr lang="en-US" b="1" dirty="0" smtClean="0">
                <a:solidFill>
                  <a:srgbClr val="C00000"/>
                </a:solidFill>
              </a:rPr>
              <a:t>of </a:t>
            </a:r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Philosophical Analysis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7145" y="278523"/>
            <a:ext cx="2725785" cy="16869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Analyzing the Challenges of Current Issues through the Main </a:t>
            </a:r>
            <a:r>
              <a:rPr lang="en-US" b="1" dirty="0">
                <a:solidFill>
                  <a:srgbClr val="C00000"/>
                </a:solidFill>
              </a:rPr>
              <a:t>Domains </a:t>
            </a:r>
            <a:r>
              <a:rPr lang="en-US" b="1" dirty="0" smtClean="0">
                <a:solidFill>
                  <a:srgbClr val="C00000"/>
                </a:solidFill>
              </a:rPr>
              <a:t>of </a:t>
            </a:r>
            <a:r>
              <a:rPr lang="en-US" b="1" dirty="0">
                <a:solidFill>
                  <a:srgbClr val="C00000"/>
                </a:solidFill>
              </a:rPr>
              <a:t/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Philosophical </a:t>
            </a:r>
            <a:r>
              <a:rPr lang="en-US" b="1" dirty="0" smtClean="0">
                <a:solidFill>
                  <a:srgbClr val="C00000"/>
                </a:solidFill>
              </a:rPr>
              <a:t>Analysis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160768" y="4885357"/>
            <a:ext cx="2547560" cy="16988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/>
              <a:t>Topic 2 </a:t>
            </a:r>
            <a:r>
              <a:rPr lang="en-US" sz="1600" b="1" dirty="0" smtClean="0"/>
              <a:t>(</a:t>
            </a:r>
            <a:r>
              <a:rPr lang="en-US" sz="1600" b="1" dirty="0"/>
              <a:t>Philosophy in Our Life) </a:t>
            </a:r>
            <a:r>
              <a:rPr lang="en-US" sz="1600" b="1" dirty="0" smtClean="0"/>
              <a:t>in </a:t>
            </a:r>
            <a:r>
              <a:rPr lang="en-US" sz="1600" b="1" dirty="0" smtClean="0"/>
              <a:t>Lesson 4</a:t>
            </a:r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17" name="Right Arrow 16"/>
          <p:cNvSpPr/>
          <p:nvPr/>
        </p:nvSpPr>
        <p:spPr>
          <a:xfrm flipH="1">
            <a:off x="5443681" y="5551739"/>
            <a:ext cx="665886" cy="101950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3562008" y="5628430"/>
            <a:ext cx="1628670" cy="79012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Philosophy: </a:t>
            </a:r>
            <a:br>
              <a:rPr lang="en-US" sz="1600" b="1" dirty="0" smtClean="0"/>
            </a:br>
            <a:r>
              <a:rPr lang="en-US" sz="1600" b="1" dirty="0" smtClean="0"/>
              <a:t>Further Explanations </a:t>
            </a:r>
            <a:endParaRPr lang="en-US" sz="1600" b="1" dirty="0"/>
          </a:p>
        </p:txBody>
      </p:sp>
      <p:sp>
        <p:nvSpPr>
          <p:cNvPr id="20" name="Right Arrow 19"/>
          <p:cNvSpPr/>
          <p:nvPr/>
        </p:nvSpPr>
        <p:spPr>
          <a:xfrm rot="5400000" flipH="1">
            <a:off x="3700496" y="4129824"/>
            <a:ext cx="434104" cy="91759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189733" y="2602613"/>
            <a:ext cx="1415564" cy="1689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/>
              <a:t>Topic 3 (Logic)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in Lesson </a:t>
            </a:r>
            <a:r>
              <a:rPr lang="en-US" sz="1600" b="1" dirty="0"/>
              <a:t>5</a:t>
            </a:r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22" name="Rounded Rectangle 21"/>
          <p:cNvSpPr/>
          <p:nvPr/>
        </p:nvSpPr>
        <p:spPr>
          <a:xfrm>
            <a:off x="3303532" y="3390400"/>
            <a:ext cx="1029817" cy="7882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600" b="1" dirty="0" smtClean="0"/>
              <a:t>Thinking Methods</a:t>
            </a:r>
            <a:endParaRPr lang="en-US" sz="1600" b="1" dirty="0"/>
          </a:p>
        </p:txBody>
      </p:sp>
      <p:sp>
        <p:nvSpPr>
          <p:cNvPr id="23" name="Rectangle 22"/>
          <p:cNvSpPr/>
          <p:nvPr/>
        </p:nvSpPr>
        <p:spPr>
          <a:xfrm>
            <a:off x="4770814" y="2609345"/>
            <a:ext cx="1920794" cy="1689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/>
              <a:t>Topic 4 (The Human Concept) in </a:t>
            </a:r>
            <a:r>
              <a:rPr lang="en-US" sz="1600" b="1" dirty="0" smtClean="0"/>
              <a:t>Lesson 6</a:t>
            </a:r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4983236" y="3398830"/>
            <a:ext cx="1497327" cy="7882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The </a:t>
            </a:r>
            <a:r>
              <a:rPr lang="en-US" sz="1600" b="1" dirty="0" smtClean="0"/>
              <a:t>Potentials and Roles of Humans</a:t>
            </a:r>
            <a:endParaRPr lang="en-US" sz="1600" b="1" dirty="0"/>
          </a:p>
        </p:txBody>
      </p:sp>
      <p:sp>
        <p:nvSpPr>
          <p:cNvPr id="25" name="Rectangle 24"/>
          <p:cNvSpPr/>
          <p:nvPr/>
        </p:nvSpPr>
        <p:spPr>
          <a:xfrm>
            <a:off x="6849838" y="2609345"/>
            <a:ext cx="2859091" cy="1689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/>
              <a:t>Topic 5 (Metaphysics)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in </a:t>
            </a:r>
            <a:r>
              <a:rPr lang="en-US" sz="1600" b="1" dirty="0"/>
              <a:t>Lesson 7</a:t>
            </a:r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26" name="Rounded Rectangle 25"/>
          <p:cNvSpPr/>
          <p:nvPr/>
        </p:nvSpPr>
        <p:spPr>
          <a:xfrm>
            <a:off x="6949088" y="3290606"/>
            <a:ext cx="2618970" cy="886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Reality about the Relations between Humans, Environment &amp; God</a:t>
            </a:r>
            <a:endParaRPr lang="en-US" sz="1600" b="1" dirty="0"/>
          </a:p>
        </p:txBody>
      </p:sp>
      <p:sp>
        <p:nvSpPr>
          <p:cNvPr id="27" name="Rectangle 26"/>
          <p:cNvSpPr/>
          <p:nvPr/>
        </p:nvSpPr>
        <p:spPr>
          <a:xfrm>
            <a:off x="9918158" y="2612756"/>
            <a:ext cx="2145150" cy="1689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/>
              <a:t>Topic 6 (Epistemology) in Lesson 8</a:t>
            </a:r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28" name="Rounded Rectangle 27"/>
          <p:cNvSpPr/>
          <p:nvPr/>
        </p:nvSpPr>
        <p:spPr>
          <a:xfrm>
            <a:off x="10266253" y="3382648"/>
            <a:ext cx="1583822" cy="7882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Knowledge &amp; Truth</a:t>
            </a:r>
            <a:endParaRPr lang="en-US" sz="1600" b="1" dirty="0"/>
          </a:p>
        </p:txBody>
      </p:sp>
      <p:sp>
        <p:nvSpPr>
          <p:cNvPr id="29" name="Right Arrow 28"/>
          <p:cNvSpPr/>
          <p:nvPr/>
        </p:nvSpPr>
        <p:spPr>
          <a:xfrm>
            <a:off x="4538515" y="3227109"/>
            <a:ext cx="325588" cy="111485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6588380" y="3235539"/>
            <a:ext cx="325588" cy="111485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9640925" y="3259742"/>
            <a:ext cx="452467" cy="111485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 rot="5400000" flipH="1">
            <a:off x="10732304" y="1836347"/>
            <a:ext cx="434104" cy="91759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355755" y="278523"/>
            <a:ext cx="2678587" cy="1689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/>
              <a:t>Topic </a:t>
            </a:r>
            <a:r>
              <a:rPr lang="en-US" sz="1600" b="1" dirty="0" smtClean="0"/>
              <a:t>7 </a:t>
            </a:r>
            <a:r>
              <a:rPr lang="en-US" sz="1600" b="1" dirty="0"/>
              <a:t>(Ideology of </a:t>
            </a:r>
            <a:r>
              <a:rPr lang="en-US" sz="1600" b="1" dirty="0" smtClean="0"/>
              <a:t>Postmodernist </a:t>
            </a:r>
            <a:r>
              <a:rPr lang="en-US" sz="1600" b="1" dirty="0"/>
              <a:t>Relativism)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in </a:t>
            </a:r>
            <a:r>
              <a:rPr lang="en-US" sz="1600" b="1" dirty="0"/>
              <a:t>Lesson </a:t>
            </a:r>
            <a:r>
              <a:rPr lang="en-US" sz="1600" b="1" dirty="0" smtClean="0"/>
              <a:t>9</a:t>
            </a:r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38" name="Rounded Rectangle 37"/>
          <p:cNvSpPr/>
          <p:nvPr/>
        </p:nvSpPr>
        <p:spPr>
          <a:xfrm>
            <a:off x="9439846" y="1145406"/>
            <a:ext cx="2453626" cy="7006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Ideological </a:t>
            </a:r>
            <a:r>
              <a:rPr lang="en-US" sz="1600" b="1" dirty="0" smtClean="0"/>
              <a:t>Impacts of </a:t>
            </a:r>
            <a:r>
              <a:rPr lang="en-US" sz="1600" b="1" dirty="0"/>
              <a:t>Postmodernist Relativism</a:t>
            </a:r>
            <a:r>
              <a:rPr lang="en-US" sz="1600" b="1" dirty="0" smtClean="0"/>
              <a:t> </a:t>
            </a:r>
            <a:endParaRPr lang="en-US" sz="1600" b="1" dirty="0"/>
          </a:p>
        </p:txBody>
      </p:sp>
      <p:sp>
        <p:nvSpPr>
          <p:cNvPr id="32" name="Rectangle 31"/>
          <p:cNvSpPr/>
          <p:nvPr/>
        </p:nvSpPr>
        <p:spPr>
          <a:xfrm>
            <a:off x="6642537" y="279767"/>
            <a:ext cx="2521138" cy="1689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/>
              <a:t>Topic 8 (Decolonisation) </a:t>
            </a:r>
            <a:br>
              <a:rPr lang="en-US" sz="1600" b="1" dirty="0"/>
            </a:br>
            <a:r>
              <a:rPr lang="en-US" sz="1600" b="1" dirty="0"/>
              <a:t>in Lesson 10</a:t>
            </a:r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33" name="Rounded Rectangle 32"/>
          <p:cNvSpPr/>
          <p:nvPr/>
        </p:nvSpPr>
        <p:spPr>
          <a:xfrm>
            <a:off x="6748406" y="1137274"/>
            <a:ext cx="2309400" cy="7006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Ecological </a:t>
            </a:r>
            <a:r>
              <a:rPr lang="en-US" sz="1600" b="1" dirty="0" smtClean="0"/>
              <a:t>Impacts of Cartesian Dualism</a:t>
            </a:r>
            <a:endParaRPr lang="en-US" sz="1600" b="1" dirty="0"/>
          </a:p>
        </p:txBody>
      </p:sp>
      <p:sp>
        <p:nvSpPr>
          <p:cNvPr id="34" name="Rectangle 33"/>
          <p:cNvSpPr/>
          <p:nvPr/>
        </p:nvSpPr>
        <p:spPr>
          <a:xfrm>
            <a:off x="3160767" y="270391"/>
            <a:ext cx="3289690" cy="16892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 smtClean="0"/>
              <a:t>Topic </a:t>
            </a:r>
            <a:r>
              <a:rPr lang="en-US" sz="1600" b="1" dirty="0"/>
              <a:t>9 (Selected Case Studies for Philosophy and Current Issues) 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in Lessons 11, 12 &amp; 13</a:t>
            </a:r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35" name="Rounded Rectangle 34"/>
          <p:cNvSpPr/>
          <p:nvPr/>
        </p:nvSpPr>
        <p:spPr>
          <a:xfrm>
            <a:off x="3349592" y="1212783"/>
            <a:ext cx="2945330" cy="60644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Various Case Studies Regarding Various Current Issues</a:t>
            </a:r>
            <a:endParaRPr lang="en-US" sz="1600" b="1" dirty="0"/>
          </a:p>
        </p:txBody>
      </p:sp>
      <p:sp>
        <p:nvSpPr>
          <p:cNvPr id="39" name="Right Arrow 38"/>
          <p:cNvSpPr/>
          <p:nvPr/>
        </p:nvSpPr>
        <p:spPr>
          <a:xfrm flipH="1">
            <a:off x="9019012" y="1025419"/>
            <a:ext cx="421861" cy="101950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 flipH="1">
            <a:off x="6260277" y="1025419"/>
            <a:ext cx="421861" cy="101950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-Right Arrow 3"/>
          <p:cNvSpPr/>
          <p:nvPr/>
        </p:nvSpPr>
        <p:spPr>
          <a:xfrm flipH="1" flipV="1">
            <a:off x="7847827" y="5504197"/>
            <a:ext cx="933619" cy="790126"/>
          </a:xfrm>
          <a:prstGeom prst="leftRightArrow">
            <a:avLst>
              <a:gd name="adj1" fmla="val 30509"/>
              <a:gd name="adj2" fmla="val 50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-Right Arrow 40"/>
          <p:cNvSpPr/>
          <p:nvPr/>
        </p:nvSpPr>
        <p:spPr>
          <a:xfrm flipH="1" flipV="1">
            <a:off x="9761429" y="5504197"/>
            <a:ext cx="933619" cy="790126"/>
          </a:xfrm>
          <a:prstGeom prst="leftRightArrow">
            <a:avLst>
              <a:gd name="adj1" fmla="val 30509"/>
              <a:gd name="adj2" fmla="val 50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33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23900" y="266700"/>
            <a:ext cx="107442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4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190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Choo</dc:creator>
  <cp:lastModifiedBy>Joseph Choo</cp:lastModifiedBy>
  <cp:revision>69</cp:revision>
  <dcterms:created xsi:type="dcterms:W3CDTF">2022-02-24T06:49:43Z</dcterms:created>
  <dcterms:modified xsi:type="dcterms:W3CDTF">2022-02-24T12:53:56Z</dcterms:modified>
</cp:coreProperties>
</file>